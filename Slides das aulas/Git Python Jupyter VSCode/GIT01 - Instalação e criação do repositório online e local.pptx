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0" r:id="rId5"/>
    <p:sldId id="286" r:id="rId6"/>
    <p:sldId id="287" r:id="rId7"/>
    <p:sldId id="288" r:id="rId8"/>
    <p:sldId id="289" r:id="rId9"/>
    <p:sldId id="256" r:id="rId10"/>
    <p:sldId id="257" r:id="rId11"/>
    <p:sldId id="258" r:id="rId12"/>
    <p:sldId id="259" r:id="rId13"/>
    <p:sldId id="264" r:id="rId14"/>
    <p:sldId id="266" r:id="rId15"/>
    <p:sldId id="260" r:id="rId16"/>
    <p:sldId id="265" r:id="rId17"/>
    <p:sldId id="261" r:id="rId18"/>
    <p:sldId id="268" r:id="rId19"/>
    <p:sldId id="262" r:id="rId20"/>
    <p:sldId id="267" r:id="rId21"/>
    <p:sldId id="263" r:id="rId22"/>
    <p:sldId id="285" r:id="rId23"/>
    <p:sldId id="269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0" r:id="rId32"/>
    <p:sldId id="278" r:id="rId33"/>
    <p:sldId id="279" r:id="rId34"/>
    <p:sldId id="280" r:id="rId35"/>
    <p:sldId id="282" r:id="rId36"/>
    <p:sldId id="281" r:id="rId37"/>
    <p:sldId id="283" r:id="rId38"/>
    <p:sldId id="284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CE39E7-0598-489A-8436-592EDF67D62E}" v="1" dt="2026-09-18T21:15:56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3A1B49F1-4182-408B-9E15-837E2809C242}"/>
    <pc:docChg chg="custSel modSld">
      <pc:chgData name="Bruno Augusto Nassif Travencolo" userId="9765cb90-d5ec-451e-8c7b-af57428794a1" providerId="ADAL" clId="{3A1B49F1-4182-408B-9E15-837E2809C242}" dt="2026-09-18T21:18:44.684" v="41" actId="1076"/>
      <pc:docMkLst>
        <pc:docMk/>
      </pc:docMkLst>
      <pc:sldChg chg="addSp modSp mod">
        <pc:chgData name="Bruno Augusto Nassif Travencolo" userId="9765cb90-d5ec-451e-8c7b-af57428794a1" providerId="ADAL" clId="{3A1B49F1-4182-408B-9E15-837E2809C242}" dt="2026-09-18T21:18:44.684" v="41" actId="1076"/>
        <pc:sldMkLst>
          <pc:docMk/>
          <pc:sldMk cId="3131205900" sldId="258"/>
        </pc:sldMkLst>
        <pc:spChg chg="add mod">
          <ac:chgData name="Bruno Augusto Nassif Travencolo" userId="9765cb90-d5ec-451e-8c7b-af57428794a1" providerId="ADAL" clId="{3A1B49F1-4182-408B-9E15-837E2809C242}" dt="2026-09-18T21:18:44.684" v="41" actId="1076"/>
          <ac:spMkLst>
            <pc:docMk/>
            <pc:sldMk cId="3131205900" sldId="258"/>
            <ac:spMk id="2" creationId="{749AE96F-0B2B-7477-F547-41DCDA623CFF}"/>
          </ac:spMkLst>
        </pc:spChg>
        <pc:spChg chg="mod">
          <ac:chgData name="Bruno Augusto Nassif Travencolo" userId="9765cb90-d5ec-451e-8c7b-af57428794a1" providerId="ADAL" clId="{3A1B49F1-4182-408B-9E15-837E2809C242}" dt="2026-09-18T21:15:48.196" v="9" actId="6549"/>
          <ac:spMkLst>
            <pc:docMk/>
            <pc:sldMk cId="3131205900" sldId="258"/>
            <ac:spMk id="6" creationId="{B5FED38C-40B6-0524-EB26-4C145C5DD305}"/>
          </ac:spMkLst>
        </pc:spChg>
      </pc:sldChg>
      <pc:sldChg chg="modSp mod">
        <pc:chgData name="Bruno Augusto Nassif Travencolo" userId="9765cb90-d5ec-451e-8c7b-af57428794a1" providerId="ADAL" clId="{3A1B49F1-4182-408B-9E15-837E2809C242}" dt="2026-09-18T21:10:01.786" v="3" actId="20577"/>
        <pc:sldMkLst>
          <pc:docMk/>
          <pc:sldMk cId="3111443109" sldId="290"/>
        </pc:sldMkLst>
        <pc:spChg chg="mod">
          <ac:chgData name="Bruno Augusto Nassif Travencolo" userId="9765cb90-d5ec-451e-8c7b-af57428794a1" providerId="ADAL" clId="{3A1B49F1-4182-408B-9E15-837E2809C242}" dt="2026-09-18T21:10:01.786" v="3" actId="20577"/>
          <ac:spMkLst>
            <pc:docMk/>
            <pc:sldMk cId="3111443109" sldId="290"/>
            <ac:spMk id="3" creationId="{80447E00-66CA-BE5C-EFA0-2A135A444C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7C47C-A100-0596-12C8-889D05055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D64862-CF86-0308-4B5A-CC182FDDF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908146-D9F9-A1CF-D6A2-80C67530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C8D71-E108-A096-9051-4C8FB648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E05FD5-AD6D-B44F-C756-56176A75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82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E6534-E0A1-C5C0-C1BA-CCEC652FF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D2A885-3F71-A15C-8C77-0E31562FC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EF2D2-4A97-CE9A-9BCA-DD1AFE99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F246A9-9DA2-FEDF-6A65-888446AE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621E60-3446-45AA-A116-B58BC4B3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358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93F10-D21B-EF51-7979-B03446901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F1AA1C-0B3A-DD33-F1D9-EEA0206DA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E0017C-1B98-3B3E-0B16-D8C90205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D03FC4-62D3-FCDB-A453-148B5628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E55389-CCC0-BF62-E21D-BD3976915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93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B1B933-70FF-11AF-2371-930CDE436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9A72AE-F406-8F9B-9A85-F2F10C8E5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EC0653-7814-B8BE-9A98-4622B7C84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ADE3EC-3927-2B19-1952-B2D08376E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D4BFF5-1D4B-B532-7C27-F5A08F4B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3C9ECD-449E-32E9-104D-286B5971B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29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E5FD6-2DC7-5DE0-816D-C6701FA11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D1B8F4-D416-5A53-B849-18A7101CE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1A8BD2-0C0F-D752-876B-142385B96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86D3E-7C6C-C0DB-DBDF-526310D76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63AB6EB-E70A-C071-EBE8-DEED3FD8C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6B9F1F-2FEF-6500-CE0D-3E2A6EF70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CFD2CE-8364-0394-0C39-1DCFC3E9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5348C35-3CC1-2BDD-F565-4A8B1B21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80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13839-0051-62A3-A5E3-04F84457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FB4E939-75C0-5E07-415B-10883E43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7ADACED-A49F-33FF-EBF6-A16E953B8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CA94660-DAA0-9950-00B0-F4C0CD90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398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A43822F-98D4-8448-3DA4-56830A932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797AE1-6361-094E-8DC0-841B9D73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93E573-1E5A-4EA7-A3C7-15CF7A8C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513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03431-BCCC-B694-04BA-AF004EA8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BF57CE-45BE-3947-E426-77C0D32DD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AF4193-A472-0C63-59A3-DFEEA2814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E2241F-6FA0-FD89-495E-24BBA2071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10066C-8FD6-2B33-67BB-683D45AC2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719B5A-737A-C460-C66B-46A56171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45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03AA5-E71B-4CE4-1E3E-64BBCB48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5E21227-3084-566A-3CD0-C8A6FEB7C5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62FF61-2CE5-A466-46E2-A65B9923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8CCFF7-6B30-3485-944F-2C5D61B2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A2B544-FDBE-E12F-9D5E-391D73F02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A5417F-8D1B-38EF-2684-60024E07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40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1725B-83C9-914B-22EE-20BC656A2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42189E-D646-F702-17B8-AFCDD1497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B1671A-4147-4435-A94E-5DB74113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A55D5E-12E4-2516-D9A3-0EDB3C8B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E668A2-EFE4-BEBD-8B77-EA7C1FF7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61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EBC8A4-AAA5-7CA8-71FA-021D624FE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6655F5-DB9C-3F04-6CAD-C625FE793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E4FD57-40C2-9BAD-79BC-C99830FF1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37C5AD-5A03-19BE-A3E6-94834041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A93652-DE62-350C-C47D-D4F80E5F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273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C351BEA-6977-6580-727F-3F9F9BD14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E101AD-4094-999F-4AEC-A13157469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1708A3-94FD-094E-9536-38EB0367F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968AD-0A46-4EE6-B4F0-1FFCF5E28B8F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9159A2-1D92-AA59-AE11-09CCCDDD5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6A6A25-AD8A-F219-0EC8-3FD975E38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E1DB3-D13F-4D6A-BBD9-DD6F8441CF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953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github.com/%3c%3cSEU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26D79-F044-C6BD-71EA-D0CD9D722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Antes de ler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447E00-66CA-BE5C-EFA0-2A135A444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Esse material foi preparado para a disciplina de Programação Orientada a Objetos (POO). </a:t>
            </a:r>
          </a:p>
          <a:p>
            <a:r>
              <a:rPr lang="pt-BR" dirty="0"/>
              <a:t>Onde encontrar POO, troque por PDI</a:t>
            </a:r>
          </a:p>
          <a:p>
            <a:r>
              <a:rPr lang="pt-BR" dirty="0"/>
              <a:t>Seu repositório local deve ser o repositório do seu GRUPO</a:t>
            </a:r>
          </a:p>
          <a:p>
            <a:r>
              <a:rPr lang="pt-BR" dirty="0"/>
              <a:t>Os enunciados estão aqui:</a:t>
            </a:r>
          </a:p>
          <a:p>
            <a:r>
              <a:rPr lang="pt-BR" dirty="0"/>
              <a:t>https://github.com/btravencolo/gbc216-labs-2026-02</a:t>
            </a:r>
          </a:p>
        </p:txBody>
      </p:sp>
    </p:spTree>
    <p:extLst>
      <p:ext uri="{BB962C8B-B14F-4D97-AF65-F5344CB8AC3E}">
        <p14:creationId xmlns:p14="http://schemas.microsoft.com/office/powerpoint/2010/main" val="3111443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5C1D5-DFD7-B488-51F9-5D5EE663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GIT em seu computador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E0A4D3-375D-FEE0-13CF-3D871211B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Windows</a:t>
            </a:r>
          </a:p>
          <a:p>
            <a:pPr lvl="1"/>
            <a:r>
              <a:rPr lang="pt-BR" dirty="0">
                <a:hlinkClick r:id="rId2"/>
              </a:rPr>
              <a:t>https://git-scm.com/download/win</a:t>
            </a:r>
            <a:endParaRPr lang="pt-BR" dirty="0"/>
          </a:p>
          <a:p>
            <a:pPr lvl="1"/>
            <a:r>
              <a:rPr lang="pt-BR" dirty="0"/>
              <a:t>Escolha </a:t>
            </a:r>
            <a:r>
              <a:rPr lang="pt-BR" b="1" i="0" dirty="0" err="1">
                <a:solidFill>
                  <a:srgbClr val="4E443C"/>
                </a:solidFill>
                <a:effectLst/>
                <a:latin typeface="Roboto Slab" pitchFamily="2" charset="0"/>
              </a:rPr>
              <a:t>Standalone</a:t>
            </a:r>
            <a:r>
              <a:rPr lang="pt-BR" b="1" i="0" dirty="0">
                <a:solidFill>
                  <a:srgbClr val="4E443C"/>
                </a:solidFill>
                <a:effectLst/>
                <a:latin typeface="Roboto Slab" pitchFamily="2" charset="0"/>
              </a:rPr>
              <a:t> Installer</a:t>
            </a:r>
          </a:p>
          <a:p>
            <a:pPr lvl="1"/>
            <a:r>
              <a:rPr lang="pt-BR" dirty="0">
                <a:solidFill>
                  <a:srgbClr val="4E443C"/>
                </a:solidFill>
                <a:latin typeface="Roboto Slab" pitchFamily="2" charset="0"/>
              </a:rPr>
              <a:t>Escolha a versão 64 bits</a:t>
            </a:r>
          </a:p>
          <a:p>
            <a:endParaRPr lang="pt-BR" i="0" dirty="0">
              <a:solidFill>
                <a:srgbClr val="4E443C"/>
              </a:solidFill>
              <a:effectLst/>
              <a:latin typeface="Roboto Slab" pitchFamily="2" charset="0"/>
            </a:endParaRPr>
          </a:p>
          <a:p>
            <a:pPr marL="457200" lvl="1" indent="0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DC9538F-BB82-A6A1-280A-1F8C26586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155" y="3609522"/>
            <a:ext cx="9640645" cy="3248478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AE56ED0-472B-CF4F-BCB3-CF52CEDBD4F0}"/>
              </a:ext>
            </a:extLst>
          </p:cNvPr>
          <p:cNvSpPr/>
          <p:nvPr/>
        </p:nvSpPr>
        <p:spPr>
          <a:xfrm>
            <a:off x="3191069" y="6492875"/>
            <a:ext cx="1119674" cy="290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260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CD460-56BB-86F3-C33C-B945ADDF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B06975-AF5A-E50B-2E0D-19203245C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Execute o arquivo baixado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832938-1B44-0D0C-5C02-7F762D201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648" y="2578100"/>
            <a:ext cx="47529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503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5829B-AEFA-73A8-B62B-AD445E7C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B4A2B-EA22-3421-3653-2A7665624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escolher um editor diferente do VIM para resolver conflitos</a:t>
            </a:r>
          </a:p>
          <a:p>
            <a:r>
              <a:rPr lang="pt-BR" dirty="0"/>
              <a:t>As demais opções podem ser as padrões sugeridas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562C67-E835-FA2D-9B3F-F7DE16B7B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095" y="2815712"/>
            <a:ext cx="4820323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23BA01A-3CCC-4CAD-932B-D444956DE4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Github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568FCA52-712F-EED7-A74A-AD9192F057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02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E8E565-8D72-8836-98C0-1F3C5039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364" y="2857420"/>
            <a:ext cx="5887272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47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882C2-23E5-49D8-AB33-4895CEF1A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Criar repositório no GIT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63E4A8-5325-889E-D1A1-C383D1ACF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418" y="2223919"/>
            <a:ext cx="4401164" cy="2410161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BB4E173E-5A68-ADD5-A0F4-05930E2D3A16}"/>
              </a:ext>
            </a:extLst>
          </p:cNvPr>
          <p:cNvSpPr/>
          <p:nvPr/>
        </p:nvSpPr>
        <p:spPr>
          <a:xfrm>
            <a:off x="6096000" y="4224528"/>
            <a:ext cx="713232" cy="124358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44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2140428-FC88-01DA-4BD1-EC45245B7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74" y="18361"/>
            <a:ext cx="5958160" cy="6858000"/>
          </a:xfrm>
          <a:prstGeom prst="rect">
            <a:avLst/>
          </a:prstGeom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B5FED38C-40B6-0524-EB26-4C145C5DD305}"/>
              </a:ext>
            </a:extLst>
          </p:cNvPr>
          <p:cNvSpPr/>
          <p:nvPr/>
        </p:nvSpPr>
        <p:spPr>
          <a:xfrm>
            <a:off x="4969085" y="729977"/>
            <a:ext cx="6655914" cy="15671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dirty="0"/>
              <a:t>Nome do repositório. Cada GRUPO terá um nome diferente</a:t>
            </a:r>
          </a:p>
          <a:p>
            <a:pPr algn="ctr"/>
            <a:endParaRPr lang="pt-BR" dirty="0">
              <a:ea typeface="Calibri"/>
              <a:cs typeface="Calibri"/>
            </a:endParaRPr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BCCB79FF-84B6-404A-29DA-A45DDECEBC08}"/>
              </a:ext>
            </a:extLst>
          </p:cNvPr>
          <p:cNvSpPr/>
          <p:nvPr/>
        </p:nvSpPr>
        <p:spPr>
          <a:xfrm>
            <a:off x="6626352" y="2962656"/>
            <a:ext cx="2313432" cy="6858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Private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49AE96F-0B2B-7477-F547-41DCDA623CFF}"/>
              </a:ext>
            </a:extLst>
          </p:cNvPr>
          <p:cNvSpPr txBox="1"/>
          <p:nvPr/>
        </p:nvSpPr>
        <p:spPr>
          <a:xfrm>
            <a:off x="8297042" y="4560875"/>
            <a:ext cx="3552670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3600" dirty="0"/>
              <a:t>gbc216_t4_Gxx</a:t>
            </a:r>
          </a:p>
        </p:txBody>
      </p:sp>
    </p:spTree>
    <p:extLst>
      <p:ext uri="{BB962C8B-B14F-4D97-AF65-F5344CB8AC3E}">
        <p14:creationId xmlns:p14="http://schemas.microsoft.com/office/powerpoint/2010/main" val="313120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442DA1-FF9F-E7F1-9EA2-226141722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599" y="0"/>
            <a:ext cx="90368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3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78255-5DBE-C208-97D6-59B41CF247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CRIANDO O REPOSITÓRIO LOCAL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8B6403-C711-49A0-145A-AE116E569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703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4FB87-EF3F-315A-F3C4-AE70C7C6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1) Em qual pasta você vai colocar o seu repositório?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1CA1C2-14F1-995A-FF0E-A4E687774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O primeiro passo é abri o Windows Explorer (ou equivalentes em outros OS) e escolher ou criar uma pasta em que seus arquivos ficarão armazenados em </a:t>
            </a:r>
            <a:r>
              <a:rPr lang="pt-BR">
                <a:highlight>
                  <a:srgbClr val="FFFF00"/>
                </a:highlight>
              </a:rPr>
              <a:t>seu computador</a:t>
            </a:r>
          </a:p>
          <a:p>
            <a:r>
              <a:rPr lang="pt-BR"/>
              <a:t>Algumas sugestões:</a:t>
            </a:r>
          </a:p>
          <a:p>
            <a:pPr lvl="1"/>
            <a:r>
              <a:rPr lang="pt-BR"/>
              <a:t>Criar uma pasta no C:\ para as suas aulas e uma subpasta para POO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313AB6-7CB6-AAC5-A3DF-28872CEC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01" y="4100945"/>
            <a:ext cx="6071257" cy="25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79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F85390-A7D2-01C0-6EFB-C66C42A7B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27" y="278534"/>
            <a:ext cx="7324725" cy="37147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86C04CC-2265-768B-A44B-75935BDE5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289" y="3808556"/>
            <a:ext cx="7324725" cy="2628900"/>
          </a:xfrm>
          <a:prstGeom prst="rect">
            <a:avLst/>
          </a:prstGeom>
        </p:spPr>
      </p:pic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CA6A6E91-B075-FB05-4C48-6BB5927A2B48}"/>
              </a:ext>
            </a:extLst>
          </p:cNvPr>
          <p:cNvSpPr/>
          <p:nvPr/>
        </p:nvSpPr>
        <p:spPr>
          <a:xfrm>
            <a:off x="8268578" y="503380"/>
            <a:ext cx="2676790" cy="1828339"/>
          </a:xfrm>
          <a:prstGeom prst="wedgeRectCallout">
            <a:avLst>
              <a:gd name="adj1" fmla="val -107606"/>
              <a:gd name="adj2" fmla="val -294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(1)</a:t>
            </a:r>
          </a:p>
          <a:p>
            <a:pPr algn="ctr"/>
            <a:r>
              <a:rPr lang="pt-BR"/>
              <a:t>Abra o Windows Explorer </a:t>
            </a:r>
          </a:p>
          <a:p>
            <a:pPr algn="ctr"/>
            <a:r>
              <a:rPr lang="pt-BR"/>
              <a:t>(tecla de atalho&gt; </a:t>
            </a:r>
            <a:r>
              <a:rPr lang="pt-BR">
                <a:latin typeface="HoloLens MDL2 Assets" panose="050A0102010101010101" pitchFamily="18" charset="0"/>
              </a:rPr>
              <a:t></a:t>
            </a:r>
            <a:r>
              <a:rPr lang="pt-BR"/>
              <a:t>+E )</a:t>
            </a: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7CEEFC90-D4E4-9D38-3986-F67E5CA05EBE}"/>
              </a:ext>
            </a:extLst>
          </p:cNvPr>
          <p:cNvSpPr/>
          <p:nvPr/>
        </p:nvSpPr>
        <p:spPr>
          <a:xfrm>
            <a:off x="777240" y="4590288"/>
            <a:ext cx="2231136" cy="1152144"/>
          </a:xfrm>
          <a:prstGeom prst="wedgeRectCallout">
            <a:avLst>
              <a:gd name="adj1" fmla="val 9905"/>
              <a:gd name="adj2" fmla="val -2303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(2) Role a barra até encontrar o C: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A9895AD-D342-8956-0D09-7D8DB4EDBBB9}"/>
              </a:ext>
            </a:extLst>
          </p:cNvPr>
          <p:cNvCxnSpPr>
            <a:cxnSpLocks/>
          </p:cNvCxnSpPr>
          <p:nvPr/>
        </p:nvCxnSpPr>
        <p:spPr>
          <a:xfrm>
            <a:off x="2834640" y="5266944"/>
            <a:ext cx="1201649" cy="688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507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001576A-2CEC-791E-F42C-74BD44DEC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73" y="90632"/>
            <a:ext cx="7324725" cy="26289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7F2EFF2-CE0C-AE2D-E0C9-976AF759B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73" y="3144844"/>
            <a:ext cx="7324725" cy="26289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D9632D-C393-DC13-7F9E-4166BB081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419" y="3713156"/>
            <a:ext cx="7324725" cy="2628900"/>
          </a:xfrm>
          <a:prstGeom prst="rect">
            <a:avLst/>
          </a:prstGeom>
        </p:spPr>
      </p:pic>
      <p:sp>
        <p:nvSpPr>
          <p:cNvPr id="8" name="Balão de Fala: Retângulo 7">
            <a:extLst>
              <a:ext uri="{FF2B5EF4-FFF2-40B4-BE49-F238E27FC236}">
                <a16:creationId xmlns:a16="http://schemas.microsoft.com/office/drawing/2014/main" id="{193B3A1E-BF27-2157-8366-8C1DCA487F67}"/>
              </a:ext>
            </a:extLst>
          </p:cNvPr>
          <p:cNvSpPr/>
          <p:nvPr/>
        </p:nvSpPr>
        <p:spPr>
          <a:xfrm>
            <a:off x="2211962" y="388504"/>
            <a:ext cx="3740781" cy="1915784"/>
          </a:xfrm>
          <a:prstGeom prst="wedgeRectCallout">
            <a:avLst>
              <a:gd name="adj1" fmla="val -74854"/>
              <a:gd name="adj2" fmla="val -1738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(3)</a:t>
            </a:r>
          </a:p>
          <a:p>
            <a:pPr algn="ctr"/>
            <a:r>
              <a:rPr lang="pt-BR"/>
              <a:t>Garanta que o </a:t>
            </a:r>
            <a:r>
              <a:rPr lang="pt-BR">
                <a:highlight>
                  <a:srgbClr val="0000FF"/>
                </a:highlight>
              </a:rPr>
              <a:t>C: </a:t>
            </a:r>
            <a:r>
              <a:rPr lang="pt-BR"/>
              <a:t>está selecionado</a:t>
            </a:r>
          </a:p>
          <a:p>
            <a:pPr algn="ctr"/>
            <a:r>
              <a:rPr lang="pt-BR"/>
              <a:t> Use o menu ‘Novo’ e ‘Pasta’</a:t>
            </a:r>
          </a:p>
        </p:txBody>
      </p:sp>
      <p:sp>
        <p:nvSpPr>
          <p:cNvPr id="9" name="Balão de Fala: Retângulo 8">
            <a:extLst>
              <a:ext uri="{FF2B5EF4-FFF2-40B4-BE49-F238E27FC236}">
                <a16:creationId xmlns:a16="http://schemas.microsoft.com/office/drawing/2014/main" id="{548507F3-A8D1-1B4C-C0D9-86BEEC2B4F27}"/>
              </a:ext>
            </a:extLst>
          </p:cNvPr>
          <p:cNvSpPr/>
          <p:nvPr/>
        </p:nvSpPr>
        <p:spPr>
          <a:xfrm>
            <a:off x="2347659" y="3239378"/>
            <a:ext cx="2203704" cy="1219916"/>
          </a:xfrm>
          <a:prstGeom prst="wedgeRectCallout">
            <a:avLst>
              <a:gd name="adj1" fmla="val -26227"/>
              <a:gd name="adj2" fmla="val 1044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(4)</a:t>
            </a:r>
          </a:p>
          <a:p>
            <a:pPr algn="ctr"/>
            <a:r>
              <a:rPr lang="pt-BR"/>
              <a:t>Crie a pasta ‘Aulas’</a:t>
            </a:r>
          </a:p>
        </p:txBody>
      </p:sp>
      <p:sp>
        <p:nvSpPr>
          <p:cNvPr id="10" name="Balão de Fala: Retângulo 9">
            <a:extLst>
              <a:ext uri="{FF2B5EF4-FFF2-40B4-BE49-F238E27FC236}">
                <a16:creationId xmlns:a16="http://schemas.microsoft.com/office/drawing/2014/main" id="{F9CBBEE5-F83C-68BB-B56D-493230A3A764}"/>
              </a:ext>
            </a:extLst>
          </p:cNvPr>
          <p:cNvSpPr/>
          <p:nvPr/>
        </p:nvSpPr>
        <p:spPr>
          <a:xfrm>
            <a:off x="7987334" y="3315854"/>
            <a:ext cx="2203704" cy="1219916"/>
          </a:xfrm>
          <a:prstGeom prst="wedgeRectCallout">
            <a:avLst>
              <a:gd name="adj1" fmla="val -26227"/>
              <a:gd name="adj2" fmla="val 1044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(5)</a:t>
            </a:r>
          </a:p>
          <a:p>
            <a:pPr algn="ctr"/>
            <a:r>
              <a:rPr lang="pt-BR"/>
              <a:t>Entre na pasta ‘Aulas’ e crie a pasta ‘POO’</a:t>
            </a:r>
          </a:p>
        </p:txBody>
      </p:sp>
    </p:spTree>
    <p:extLst>
      <p:ext uri="{BB962C8B-B14F-4D97-AF65-F5344CB8AC3E}">
        <p14:creationId xmlns:p14="http://schemas.microsoft.com/office/powerpoint/2010/main" val="396113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9602304-C86F-7218-3F2B-2D1D422D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91" y="442768"/>
            <a:ext cx="7858125" cy="2628900"/>
          </a:xfrm>
          <a:prstGeom prst="rect">
            <a:avLst/>
          </a:prstGeom>
        </p:spPr>
      </p:pic>
      <p:sp>
        <p:nvSpPr>
          <p:cNvPr id="14" name="Balão de Fala: Retângulo 13">
            <a:extLst>
              <a:ext uri="{FF2B5EF4-FFF2-40B4-BE49-F238E27FC236}">
                <a16:creationId xmlns:a16="http://schemas.microsoft.com/office/drawing/2014/main" id="{FC10076B-C2A3-023B-0857-3A5CB803A726}"/>
              </a:ext>
            </a:extLst>
          </p:cNvPr>
          <p:cNvSpPr/>
          <p:nvPr/>
        </p:nvSpPr>
        <p:spPr>
          <a:xfrm>
            <a:off x="4325112" y="156441"/>
            <a:ext cx="2231136" cy="987552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(6)</a:t>
            </a:r>
          </a:p>
          <a:p>
            <a:pPr algn="ctr"/>
            <a:r>
              <a:rPr lang="pt-BR"/>
              <a:t>Ao entrar na pasta POO ela estará vazia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3DB1395-F1AE-EF43-3497-85EC41011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956" y="3864985"/>
            <a:ext cx="7858125" cy="2619375"/>
          </a:xfrm>
          <a:prstGeom prst="rect">
            <a:avLst/>
          </a:prstGeom>
        </p:spPr>
      </p:pic>
      <p:sp>
        <p:nvSpPr>
          <p:cNvPr id="18" name="Balão de Fala: Retângulo 17">
            <a:extLst>
              <a:ext uri="{FF2B5EF4-FFF2-40B4-BE49-F238E27FC236}">
                <a16:creationId xmlns:a16="http://schemas.microsoft.com/office/drawing/2014/main" id="{F35AF94B-11AE-E73A-B9D4-3A0FDDBADAB6}"/>
              </a:ext>
            </a:extLst>
          </p:cNvPr>
          <p:cNvSpPr/>
          <p:nvPr/>
        </p:nvSpPr>
        <p:spPr>
          <a:xfrm>
            <a:off x="5486862" y="1986999"/>
            <a:ext cx="3546302" cy="1799334"/>
          </a:xfrm>
          <a:prstGeom prst="wedgeRectCallout">
            <a:avLst>
              <a:gd name="adj1" fmla="val -56769"/>
              <a:gd name="adj2" fmla="val -734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Clique com o mouse em uma área fora do texto, mas dentro da caixa</a:t>
            </a:r>
          </a:p>
        </p:txBody>
      </p:sp>
      <p:sp>
        <p:nvSpPr>
          <p:cNvPr id="19" name="Balão de Fala: Retângulo 18">
            <a:extLst>
              <a:ext uri="{FF2B5EF4-FFF2-40B4-BE49-F238E27FC236}">
                <a16:creationId xmlns:a16="http://schemas.microsoft.com/office/drawing/2014/main" id="{AA757675-6603-DC55-216C-F4E901340DD1}"/>
              </a:ext>
            </a:extLst>
          </p:cNvPr>
          <p:cNvSpPr/>
          <p:nvPr/>
        </p:nvSpPr>
        <p:spPr>
          <a:xfrm>
            <a:off x="5212916" y="5023732"/>
            <a:ext cx="3454400" cy="1366982"/>
          </a:xfrm>
          <a:prstGeom prst="wedgeRectCallout">
            <a:avLst>
              <a:gd name="adj1" fmla="val -61598"/>
              <a:gd name="adj2" fmla="val -445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Dessa forma o Windows mostrará o caminho completo da sua pasta</a:t>
            </a:r>
          </a:p>
        </p:txBody>
      </p:sp>
    </p:spTree>
    <p:extLst>
      <p:ext uri="{BB962C8B-B14F-4D97-AF65-F5344CB8AC3E}">
        <p14:creationId xmlns:p14="http://schemas.microsoft.com/office/powerpoint/2010/main" val="3407639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9602304-C86F-7218-3F2B-2D1D422D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91" y="442768"/>
            <a:ext cx="7858125" cy="26289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EA57C0D-51A9-8063-77DE-327951B9D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137" y="3357995"/>
            <a:ext cx="7858125" cy="2628900"/>
          </a:xfrm>
          <a:prstGeom prst="rect">
            <a:avLst/>
          </a:prstGeom>
        </p:spPr>
      </p:pic>
      <p:sp>
        <p:nvSpPr>
          <p:cNvPr id="14" name="Balão de Fala: Retângulo 13">
            <a:extLst>
              <a:ext uri="{FF2B5EF4-FFF2-40B4-BE49-F238E27FC236}">
                <a16:creationId xmlns:a16="http://schemas.microsoft.com/office/drawing/2014/main" id="{FC10076B-C2A3-023B-0857-3A5CB803A726}"/>
              </a:ext>
            </a:extLst>
          </p:cNvPr>
          <p:cNvSpPr/>
          <p:nvPr/>
        </p:nvSpPr>
        <p:spPr>
          <a:xfrm>
            <a:off x="4325112" y="156441"/>
            <a:ext cx="2231136" cy="987552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(6)</a:t>
            </a:r>
          </a:p>
          <a:p>
            <a:pPr algn="ctr"/>
            <a:r>
              <a:rPr lang="pt-BR"/>
              <a:t>Clique em outro local da janela para voltar</a:t>
            </a:r>
          </a:p>
        </p:txBody>
      </p:sp>
      <p:sp>
        <p:nvSpPr>
          <p:cNvPr id="15" name="Balão de Fala: Retângulo 14">
            <a:extLst>
              <a:ext uri="{FF2B5EF4-FFF2-40B4-BE49-F238E27FC236}">
                <a16:creationId xmlns:a16="http://schemas.microsoft.com/office/drawing/2014/main" id="{A8956D4E-BE4D-EF0E-F56C-ADEE02ADC313}"/>
              </a:ext>
            </a:extLst>
          </p:cNvPr>
          <p:cNvSpPr/>
          <p:nvPr/>
        </p:nvSpPr>
        <p:spPr>
          <a:xfrm>
            <a:off x="4288536" y="2761488"/>
            <a:ext cx="2267712" cy="1454612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(7)</a:t>
            </a:r>
          </a:p>
          <a:p>
            <a:pPr algn="ctr"/>
            <a:r>
              <a:rPr lang="pt-BR"/>
              <a:t> Clique em ‘Aulas’ para voltar para a pasta ‘Aulas’</a:t>
            </a:r>
          </a:p>
        </p:txBody>
      </p:sp>
    </p:spTree>
    <p:extLst>
      <p:ext uri="{BB962C8B-B14F-4D97-AF65-F5344CB8AC3E}">
        <p14:creationId xmlns:p14="http://schemas.microsoft.com/office/powerpoint/2010/main" val="441645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CDE2618-9B91-34B8-56B0-19EF2F844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985496"/>
            <a:ext cx="8230749" cy="4887007"/>
          </a:xfrm>
          <a:prstGeom prst="rect">
            <a:avLst/>
          </a:prstGeom>
        </p:spPr>
      </p:pic>
      <p:sp>
        <p:nvSpPr>
          <p:cNvPr id="4" name="Balão de Fala: Retângulo 3">
            <a:extLst>
              <a:ext uri="{FF2B5EF4-FFF2-40B4-BE49-F238E27FC236}">
                <a16:creationId xmlns:a16="http://schemas.microsoft.com/office/drawing/2014/main" id="{DFE97BDC-0857-AB48-F5B1-0017387E5957}"/>
              </a:ext>
            </a:extLst>
          </p:cNvPr>
          <p:cNvSpPr/>
          <p:nvPr/>
        </p:nvSpPr>
        <p:spPr>
          <a:xfrm>
            <a:off x="3694176" y="1216152"/>
            <a:ext cx="2514600" cy="1380744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Pressione o botão direto do mouse sobre a pasta ‘POO’</a:t>
            </a:r>
          </a:p>
        </p:txBody>
      </p:sp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3AAC9B41-1176-CB0A-C9C9-A9D519B4FAE9}"/>
              </a:ext>
            </a:extLst>
          </p:cNvPr>
          <p:cNvSpPr/>
          <p:nvPr/>
        </p:nvSpPr>
        <p:spPr>
          <a:xfrm>
            <a:off x="8592312" y="4248912"/>
            <a:ext cx="2514600" cy="1380744"/>
          </a:xfrm>
          <a:prstGeom prst="wedgeRectCallout">
            <a:avLst>
              <a:gd name="adj1" fmla="val -113560"/>
              <a:gd name="adj2" fmla="val 406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Selecione ‘Mostrar mais opções’</a:t>
            </a:r>
          </a:p>
        </p:txBody>
      </p:sp>
    </p:spTree>
    <p:extLst>
      <p:ext uri="{BB962C8B-B14F-4D97-AF65-F5344CB8AC3E}">
        <p14:creationId xmlns:p14="http://schemas.microsoft.com/office/powerpoint/2010/main" val="3897201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CA8C6E5-C9B0-AC3E-E9A4-748DE3E0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442495"/>
            <a:ext cx="8716591" cy="5973009"/>
          </a:xfrm>
          <a:prstGeom prst="rect">
            <a:avLst/>
          </a:prstGeom>
        </p:spPr>
      </p:pic>
      <p:sp>
        <p:nvSpPr>
          <p:cNvPr id="5" name="Balão de Fala: Retângulo 4">
            <a:extLst>
              <a:ext uri="{FF2B5EF4-FFF2-40B4-BE49-F238E27FC236}">
                <a16:creationId xmlns:a16="http://schemas.microsoft.com/office/drawing/2014/main" id="{EDC0D69C-0289-FC27-2EC8-585244FF0EA2}"/>
              </a:ext>
            </a:extLst>
          </p:cNvPr>
          <p:cNvSpPr/>
          <p:nvPr/>
        </p:nvSpPr>
        <p:spPr>
          <a:xfrm>
            <a:off x="9308592" y="676656"/>
            <a:ext cx="2322576" cy="969264"/>
          </a:xfrm>
          <a:prstGeom prst="wedgeRectCallout">
            <a:avLst>
              <a:gd name="adj1" fmla="val -83670"/>
              <a:gd name="adj2" fmla="val 700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Escolha ‘</a:t>
            </a:r>
            <a:r>
              <a:rPr lang="pt-BR" err="1"/>
              <a:t>Git</a:t>
            </a:r>
            <a:r>
              <a:rPr lang="pt-BR"/>
              <a:t> </a:t>
            </a:r>
            <a:r>
              <a:rPr lang="pt-BR" err="1"/>
              <a:t>bash</a:t>
            </a:r>
            <a:r>
              <a:rPr lang="pt-BR"/>
              <a:t> </a:t>
            </a:r>
            <a:r>
              <a:rPr lang="pt-BR" err="1"/>
              <a:t>Here</a:t>
            </a:r>
            <a:r>
              <a:rPr lang="pt-BR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1841969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620599-4AE8-FEB7-8955-9356C9DF3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2158526"/>
            <a:ext cx="5534025" cy="352425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err="1"/>
              <a:t>git</a:t>
            </a:r>
            <a:r>
              <a:rPr lang="pt-BR"/>
              <a:t> </a:t>
            </a:r>
            <a:r>
              <a:rPr lang="pt-BR" err="1"/>
              <a:t>bash</a:t>
            </a:r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4025" cy="4351338"/>
          </a:xfrm>
        </p:spPr>
        <p:txBody>
          <a:bodyPr/>
          <a:lstStyle/>
          <a:p>
            <a:r>
              <a:rPr lang="pt-BR"/>
              <a:t>Será aberto um terminal </a:t>
            </a:r>
            <a:r>
              <a:rPr lang="pt-BR" err="1"/>
              <a:t>bash</a:t>
            </a:r>
            <a:endParaRPr lang="pt-BR"/>
          </a:p>
          <a:p>
            <a:endParaRPr lang="pt-BR"/>
          </a:p>
          <a:p>
            <a:r>
              <a:rPr lang="pt-BR"/>
              <a:t>Pasta criada no Windows </a:t>
            </a:r>
          </a:p>
          <a:p>
            <a:pPr lvl="1"/>
            <a:r>
              <a:rPr lang="pt-BR"/>
              <a:t>C:\Aulas\POO</a:t>
            </a:r>
          </a:p>
          <a:p>
            <a:r>
              <a:rPr lang="pt-BR"/>
              <a:t>Como a mesma pasta é vista no terminal </a:t>
            </a:r>
            <a:r>
              <a:rPr lang="pt-BR" err="1"/>
              <a:t>bash</a:t>
            </a:r>
            <a:r>
              <a:rPr lang="pt-BR"/>
              <a:t> (padrão Linux)</a:t>
            </a:r>
          </a:p>
          <a:p>
            <a:pPr lvl="1"/>
            <a:r>
              <a:rPr lang="pt-BR"/>
              <a:t>/c/Aulas/POO</a:t>
            </a:r>
          </a:p>
          <a:p>
            <a:r>
              <a:rPr lang="pt-BR"/>
              <a:t>A barra de separação de pastas do Windows é diferente da do Linux</a:t>
            </a:r>
          </a:p>
        </p:txBody>
      </p:sp>
    </p:spTree>
    <p:extLst>
      <p:ext uri="{BB962C8B-B14F-4D97-AF65-F5344CB8AC3E}">
        <p14:creationId xmlns:p14="http://schemas.microsoft.com/office/powerpoint/2010/main" val="3248440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CD7715-BE0C-2671-1F68-7717990CF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48" y="2310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/>
              <a:t>Outras possíveis pastas. Exemplo no </a:t>
            </a:r>
            <a:r>
              <a:rPr lang="pt-BR" err="1"/>
              <a:t>Onedrive</a:t>
            </a:r>
            <a:r>
              <a:rPr lang="pt-BR"/>
              <a:t>:</a:t>
            </a:r>
          </a:p>
          <a:p>
            <a:pPr marL="0" indent="0">
              <a:buNone/>
            </a:pPr>
            <a:r>
              <a:rPr lang="pt-BR" sz="2000"/>
              <a:t>Windows</a:t>
            </a:r>
          </a:p>
          <a:p>
            <a:pPr marL="0" indent="0">
              <a:buNone/>
            </a:pPr>
            <a:r>
              <a:rPr lang="pt-BR" sz="2000"/>
              <a:t>C:\Users\trave\OneDrive - Universidade Federal de Uberlândia\Aulas\</a:t>
            </a:r>
            <a:r>
              <a:rPr lang="pt-BR" sz="2000" err="1"/>
              <a:t>poo</a:t>
            </a:r>
            <a:endParaRPr lang="pt-BR" sz="2000"/>
          </a:p>
          <a:p>
            <a:pPr marL="0" indent="0">
              <a:buNone/>
            </a:pPr>
            <a:r>
              <a:rPr lang="pt-BR" sz="2000" err="1"/>
              <a:t>Git</a:t>
            </a:r>
            <a:r>
              <a:rPr lang="pt-BR" sz="2000"/>
              <a:t> </a:t>
            </a:r>
            <a:r>
              <a:rPr lang="pt-BR" sz="2000" err="1"/>
              <a:t>bash</a:t>
            </a:r>
            <a:endParaRPr lang="pt-BR" sz="2000"/>
          </a:p>
          <a:p>
            <a:pPr marL="0" indent="0">
              <a:buNone/>
            </a:pPr>
            <a:r>
              <a:rPr lang="pt-BR" sz="1800">
                <a:solidFill>
                  <a:srgbClr val="C0A000"/>
                </a:solidFill>
                <a:latin typeface="Lucida Console" panose="020B0609040504020204" pitchFamily="49" charset="0"/>
              </a:rPr>
              <a:t>~/OneDrive - Universidade Federal de Uberlândia/Aulas/</a:t>
            </a:r>
            <a:r>
              <a:rPr lang="pt-BR" sz="1800" err="1">
                <a:solidFill>
                  <a:srgbClr val="C0A000"/>
                </a:solidFill>
                <a:latin typeface="Lucida Console" panose="020B0609040504020204" pitchFamily="49" charset="0"/>
              </a:rPr>
              <a:t>poo</a:t>
            </a:r>
            <a:endParaRPr lang="pt-BR" sz="2000"/>
          </a:p>
          <a:p>
            <a:pPr marL="0" indent="0">
              <a:buNone/>
            </a:pPr>
            <a:endParaRPr lang="pt-BR" sz="2000"/>
          </a:p>
          <a:p>
            <a:pPr marL="0" indent="0">
              <a:buNone/>
            </a:pPr>
            <a:r>
              <a:rPr lang="pt-BR" sz="2000"/>
              <a:t>Fique atento a pastas que contém espaço em branco. Em comandos </a:t>
            </a:r>
            <a:r>
              <a:rPr lang="pt-BR" sz="2000" err="1"/>
              <a:t>shell</a:t>
            </a:r>
            <a:r>
              <a:rPr lang="pt-BR" sz="2000"/>
              <a:t> a indicação da pasta devem vir com o caminho escrito entre aspas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C3148B-7A06-A518-B025-ED3D7FD62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517" y="3450315"/>
            <a:ext cx="9564435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15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Criando um repositório LOCAL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825625"/>
            <a:ext cx="6265879" cy="4471480"/>
          </a:xfrm>
        </p:spPr>
        <p:txBody>
          <a:bodyPr/>
          <a:lstStyle/>
          <a:p>
            <a:pPr marL="0" indent="0">
              <a:buNone/>
            </a:pPr>
            <a:r>
              <a:rPr lang="pt-BR"/>
              <a:t>No </a:t>
            </a:r>
            <a:r>
              <a:rPr lang="pt-BR" err="1"/>
              <a:t>git</a:t>
            </a:r>
            <a:r>
              <a:rPr lang="pt-BR"/>
              <a:t> </a:t>
            </a:r>
            <a:r>
              <a:rPr lang="pt-BR" err="1"/>
              <a:t>bash</a:t>
            </a:r>
            <a:r>
              <a:rPr lang="pt-BR"/>
              <a:t> faça os seguintes comandos: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1) Crie um arquivo README.md ou qualquer outro arquivo.</a:t>
            </a:r>
          </a:p>
          <a:p>
            <a:pPr lvl="1"/>
            <a:endParaRPr lang="pt-BR"/>
          </a:p>
          <a:p>
            <a:pPr marL="0" indent="0">
              <a:buNone/>
            </a:pPr>
            <a:r>
              <a:rPr lang="pt-BR" sz="1800" err="1">
                <a:highlight>
                  <a:srgbClr val="FFFF00"/>
                </a:highlight>
                <a:latin typeface="Consolas" panose="020B0609020204030204" pitchFamily="49" charset="0"/>
              </a:rPr>
              <a:t>echo</a:t>
            </a:r>
            <a:r>
              <a:rPr lang="pt-BR" sz="1800">
                <a:highlight>
                  <a:srgbClr val="FFFF00"/>
                </a:highlight>
                <a:latin typeface="Consolas" panose="020B0609020204030204" pitchFamily="49" charset="0"/>
              </a:rPr>
              <a:t> "# FACOM27881_t1_travencolo" &gt;&gt; README.md</a:t>
            </a: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2) Use o comando </a:t>
            </a:r>
            <a:r>
              <a:rPr lang="pt-BR" sz="1800" err="1">
                <a:highlight>
                  <a:srgbClr val="FFFF00"/>
                </a:highlight>
                <a:latin typeface="Consolas" panose="020B0609020204030204" pitchFamily="49" charset="0"/>
              </a:rPr>
              <a:t>ls</a:t>
            </a:r>
            <a:r>
              <a:rPr lang="pt-BR" sz="1800">
                <a:latin typeface="Consolas" panose="020B0609020204030204" pitchFamily="49" charset="0"/>
              </a:rPr>
              <a:t> para ver se o arquivo foi criado 	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D5D172A-587D-B300-0A6E-42FD4EA9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75" y="2772855"/>
            <a:ext cx="55340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98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Criando um repositório LOCAL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1" y="1825625"/>
            <a:ext cx="5703570" cy="44714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/>
              <a:t>No </a:t>
            </a:r>
            <a:r>
              <a:rPr lang="pt-BR" err="1"/>
              <a:t>git</a:t>
            </a:r>
            <a:r>
              <a:rPr lang="pt-BR"/>
              <a:t> </a:t>
            </a:r>
            <a:r>
              <a:rPr lang="pt-BR" err="1"/>
              <a:t>bash</a:t>
            </a:r>
            <a:r>
              <a:rPr lang="pt-BR"/>
              <a:t> faça os seguintes comandos: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/>
              <a:t>Crie o repositório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git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init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1) Chame o comando ADD para adicionar o arquivo recém criado README.md para posterior </a:t>
            </a:r>
            <a:r>
              <a:rPr lang="pt-BR" sz="1800" err="1">
                <a:latin typeface="Consolas" panose="020B0609020204030204" pitchFamily="49" charset="0"/>
              </a:rPr>
              <a:t>commit</a:t>
            </a:r>
            <a:endParaRPr lang="pt-BR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80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err="1">
                <a:highlight>
                  <a:srgbClr val="FFFF00"/>
                </a:highlight>
                <a:latin typeface="Consolas" panose="020B0609020204030204" pitchFamily="49" charset="0"/>
              </a:rPr>
              <a:t>git</a:t>
            </a:r>
            <a:r>
              <a:rPr lang="pt-BR" sz="180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pt-BR" sz="180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pt-BR" sz="1800">
                <a:highlight>
                  <a:srgbClr val="FFFF00"/>
                </a:highlight>
                <a:latin typeface="Consolas" panose="020B0609020204030204" pitchFamily="49" charset="0"/>
              </a:rPr>
              <a:t> README.md</a:t>
            </a: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2) Em algumas situações no Windows irá aparecer uma mensagem de mudança de caractere de fim de linha. Ignore a mensagem</a:t>
            </a:r>
            <a:endParaRPr lang="pt-BR" sz="180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5CFFDA4-D81D-22CE-0846-6C294F7D9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720" y="2099945"/>
            <a:ext cx="627697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72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Criando um repositório LOCAL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1" y="1825625"/>
            <a:ext cx="5703570" cy="4471480"/>
          </a:xfrm>
        </p:spPr>
        <p:txBody>
          <a:bodyPr/>
          <a:lstStyle/>
          <a:p>
            <a:pPr marL="0" indent="0">
              <a:buNone/>
            </a:pPr>
            <a:r>
              <a:rPr lang="pt-BR"/>
              <a:t>No </a:t>
            </a:r>
            <a:r>
              <a:rPr lang="pt-BR" err="1"/>
              <a:t>git</a:t>
            </a:r>
            <a:r>
              <a:rPr lang="pt-BR"/>
              <a:t> </a:t>
            </a:r>
            <a:r>
              <a:rPr lang="pt-BR" err="1"/>
              <a:t>bash</a:t>
            </a:r>
            <a:r>
              <a:rPr lang="pt-BR"/>
              <a:t> faça os seguintes comandos: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1) Faça o </a:t>
            </a:r>
            <a:r>
              <a:rPr lang="pt-BR" sz="1800" err="1">
                <a:latin typeface="Consolas" panose="020B0609020204030204" pitchFamily="49" charset="0"/>
              </a:rPr>
              <a:t>commit</a:t>
            </a:r>
            <a:r>
              <a:rPr lang="pt-BR" sz="1800">
                <a:latin typeface="Consolas" panose="020B0609020204030204" pitchFamily="49" charset="0"/>
              </a:rPr>
              <a:t> dos arquivos adicionados no passo anterior. O </a:t>
            </a:r>
            <a:r>
              <a:rPr lang="pt-BR" sz="1800" err="1">
                <a:latin typeface="Consolas" panose="020B0609020204030204" pitchFamily="49" charset="0"/>
              </a:rPr>
              <a:t>commit</a:t>
            </a:r>
            <a:r>
              <a:rPr lang="pt-BR" sz="1800">
                <a:latin typeface="Consolas" panose="020B0609020204030204" pitchFamily="49" charset="0"/>
              </a:rPr>
              <a:t> tem um parâmetro “-m”, que indica uma mensagem para o </a:t>
            </a:r>
            <a:r>
              <a:rPr lang="pt-BR" sz="1800" err="1">
                <a:latin typeface="Consolas" panose="020B0609020204030204" pitchFamily="49" charset="0"/>
              </a:rPr>
              <a:t>commit</a:t>
            </a:r>
            <a:endParaRPr lang="pt-BR" sz="1800">
              <a:latin typeface="Consolas" panose="020B0609020204030204" pitchFamily="49" charset="0"/>
            </a:endParaRPr>
          </a:p>
          <a:p>
            <a:pPr lvl="1"/>
            <a:endParaRPr lang="pt-BR"/>
          </a:p>
          <a:p>
            <a:pPr marL="0" indent="0">
              <a:buNone/>
            </a:pPr>
            <a:r>
              <a:rPr lang="en-US" sz="1800">
                <a:highlight>
                  <a:srgbClr val="FFFF00"/>
                </a:highlight>
                <a:latin typeface="Consolas" panose="020B0609020204030204" pitchFamily="49" charset="0"/>
              </a:rPr>
              <a:t>git commit -m “Meu </a:t>
            </a:r>
            <a:r>
              <a:rPr lang="en-US" sz="1800" err="1">
                <a:highlight>
                  <a:srgbClr val="FFFF00"/>
                </a:highlight>
                <a:latin typeface="Consolas" panose="020B0609020204030204" pitchFamily="49" charset="0"/>
              </a:rPr>
              <a:t>primeiro</a:t>
            </a:r>
            <a:r>
              <a:rPr lang="en-US" sz="1800">
                <a:highlight>
                  <a:srgbClr val="FFFF00"/>
                </a:highlight>
                <a:latin typeface="Consolas" panose="020B0609020204030204" pitchFamily="49" charset="0"/>
              </a:rPr>
              <a:t> commit!”</a:t>
            </a: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2) Em algumas situações no Windows irá aparecer uma mensagem de mudança de caractere de fim de linha. Ignore a mensagem</a:t>
            </a:r>
            <a:endParaRPr lang="pt-BR" sz="180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365E43F-7BC6-03B2-6E19-0E66EE602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025" y="2878646"/>
            <a:ext cx="62769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70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Criando um repositório LOCAL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1" y="1825625"/>
            <a:ext cx="5703570" cy="4471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/>
              <a:t>No </a:t>
            </a:r>
            <a:r>
              <a:rPr lang="pt-BR" err="1"/>
              <a:t>git</a:t>
            </a:r>
            <a:r>
              <a:rPr lang="pt-BR"/>
              <a:t> </a:t>
            </a:r>
            <a:r>
              <a:rPr lang="pt-BR" err="1"/>
              <a:t>bash</a:t>
            </a:r>
            <a:r>
              <a:rPr lang="pt-BR"/>
              <a:t> faça os seguintes comandos:</a:t>
            </a:r>
          </a:p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1) Modificando o nome da Branch principal. Em algumas versões o nome era ‘master’ e será modificado para ‘</a:t>
            </a:r>
            <a:r>
              <a:rPr lang="pt-BR" sz="1800" err="1">
                <a:latin typeface="Consolas" panose="020B0609020204030204" pitchFamily="49" charset="0"/>
              </a:rPr>
              <a:t>main</a:t>
            </a:r>
            <a:r>
              <a:rPr lang="pt-BR" sz="1800">
                <a:latin typeface="Consolas" panose="020B0609020204030204" pitchFamily="49" charset="0"/>
              </a:rPr>
              <a:t>’. Na versão usada neste slide esse passo não era necessário</a:t>
            </a:r>
          </a:p>
          <a:p>
            <a:pPr lvl="1"/>
            <a:endParaRPr lang="pt-BR"/>
          </a:p>
          <a:p>
            <a:pPr marL="0" indent="0">
              <a:buNone/>
            </a:pPr>
            <a:r>
              <a:rPr lang="en-US" sz="1800">
                <a:highlight>
                  <a:srgbClr val="FFFF00"/>
                </a:highlight>
                <a:latin typeface="Consolas" panose="020B0609020204030204" pitchFamily="49" charset="0"/>
              </a:rPr>
              <a:t>git branch -M main</a:t>
            </a: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1B3CFB-A643-B859-C0BC-2DFA554B5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12" y="2288887"/>
            <a:ext cx="627697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31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Criando um repositório LOCAL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498060"/>
            <a:ext cx="11906250" cy="4471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Consolas" panose="020B0609020204030204" pitchFamily="49" charset="0"/>
              </a:rPr>
              <a:t>1) Ligando o repositório LOCAL com o repositório no </a:t>
            </a:r>
            <a:r>
              <a:rPr lang="pt-BR" sz="1800" dirty="0" err="1">
                <a:latin typeface="Consolas" panose="020B0609020204030204" pitchFamily="49" charset="0"/>
              </a:rPr>
              <a:t>github</a:t>
            </a:r>
            <a:endParaRPr lang="pt-BR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git remote add origin 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  <a:hlinkClick r:id="rId2"/>
              </a:rPr>
              <a:t>https://github.com/&lt;&lt;SEU</a:t>
            </a: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 USUÁRIO GIT&gt;&gt;/FACOM31306_t2_&lt;&lt;SEU EMAIL UFU&gt;&gt;</a:t>
            </a:r>
          </a:p>
          <a:p>
            <a:pPr marL="0" indent="0">
              <a:buNone/>
            </a:pPr>
            <a:r>
              <a:rPr lang="pt-BR" sz="1800" dirty="0">
                <a:latin typeface="Consolas" panose="020B0609020204030204" pitchFamily="49" charset="0"/>
              </a:rPr>
              <a:t>&gt;&gt;&gt; o código aqui deve ser o do SEU </a:t>
            </a:r>
            <a:r>
              <a:rPr lang="pt-BR" sz="1800" dirty="0" err="1">
                <a:latin typeface="Consolas" panose="020B0609020204030204" pitchFamily="49" charset="0"/>
              </a:rPr>
              <a:t>github</a:t>
            </a:r>
            <a:endParaRPr lang="pt-BR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latin typeface="Consolas" panose="020B0609020204030204" pitchFamily="49" charset="0"/>
              </a:rPr>
              <a:t>2) Conferindo o comando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git remote -v</a:t>
            </a:r>
            <a:endParaRPr lang="pt-BR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800" dirty="0">
              <a:latin typeface="Consolas" panose="020B0609020204030204" pitchFamily="49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F300BC7-F582-895A-0B6B-9E1A4D791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626" y="3368675"/>
            <a:ext cx="93154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8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Ligando o repositório local com o remoto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35" y="2021395"/>
            <a:ext cx="11555730" cy="4471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1) Enviando o </a:t>
            </a:r>
            <a:r>
              <a:rPr lang="pt-BR" sz="1800" err="1">
                <a:latin typeface="Consolas" panose="020B0609020204030204" pitchFamily="49" charset="0"/>
              </a:rPr>
              <a:t>commit</a:t>
            </a:r>
            <a:r>
              <a:rPr lang="pt-BR" sz="1800">
                <a:latin typeface="Consolas" panose="020B0609020204030204" pitchFamily="49" charset="0"/>
              </a:rPr>
              <a:t> local para o GitHub (remoto)</a:t>
            </a:r>
          </a:p>
          <a:p>
            <a:pPr marL="0" indent="0">
              <a:buNone/>
            </a:pPr>
            <a:r>
              <a:rPr lang="en-US" sz="1800">
                <a:highlight>
                  <a:srgbClr val="FFFF00"/>
                </a:highlight>
                <a:latin typeface="Consolas" panose="020B0609020204030204" pitchFamily="49" charset="0"/>
              </a:rPr>
              <a:t>git push -u origin main</a:t>
            </a: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E94B07F-62BA-7AC0-03F1-07E22D48A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3150754"/>
            <a:ext cx="93154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96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Criando um repositório LOCAL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498060"/>
            <a:ext cx="11555730" cy="4471480"/>
          </a:xfrm>
        </p:spPr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pt-BR" sz="1800" dirty="0">
                <a:latin typeface="Consolas" panose="020B0609020204030204" pitchFamily="49" charset="0"/>
              </a:rPr>
              <a:t>Muitas vezes ele vai pedir o login</a:t>
            </a:r>
          </a:p>
          <a:p>
            <a:pPr marL="342900" indent="-342900">
              <a:buAutoNum type="arabicParenR"/>
            </a:pPr>
            <a:r>
              <a:rPr lang="pt-BR" sz="1800" dirty="0">
                <a:latin typeface="Consolas" panose="020B0609020204030204" pitchFamily="49" charset="0"/>
              </a:rPr>
              <a:t>Se não conseguir o login dessa forma, veja o slide sobre autenticação com token</a:t>
            </a:r>
          </a:p>
          <a:p>
            <a:pPr marL="342900" indent="-342900">
              <a:buAutoNum type="arabicParenR"/>
            </a:pPr>
            <a:endParaRPr lang="en-US" sz="1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800" dirty="0">
              <a:latin typeface="Consolas" panose="020B0609020204030204" pitchFamily="49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E94B07F-62BA-7AC0-03F1-07E22D48A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732" y="2504209"/>
            <a:ext cx="9315450" cy="31242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9EA066C-FBD7-C592-0078-35C4C5C42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333" y="2321465"/>
            <a:ext cx="3943350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77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FA3FE77-49CC-9082-E6A2-576346D9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Criando um repositório LOCAL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0F2BB12-F305-B6FE-944A-738786A74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498060"/>
            <a:ext cx="11555730" cy="4471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>
                <a:latin typeface="Consolas" panose="020B0609020204030204" pitchFamily="49" charset="0"/>
              </a:rPr>
              <a:t>1) Após o </a:t>
            </a:r>
            <a:r>
              <a:rPr lang="pt-BR" sz="1800" err="1">
                <a:latin typeface="Consolas" panose="020B0609020204030204" pitchFamily="49" charset="0"/>
              </a:rPr>
              <a:t>push</a:t>
            </a:r>
            <a:r>
              <a:rPr lang="pt-BR" sz="1800">
                <a:latin typeface="Consolas" panose="020B0609020204030204" pitchFamily="49" charset="0"/>
              </a:rPr>
              <a:t>, verifique se ocorreu alguma mensagem de erro</a:t>
            </a:r>
            <a:endParaRPr lang="en-US" sz="180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pt-BR" sz="1800">
              <a:latin typeface="Consolas" panose="020B0609020204030204" pitchFamily="49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973CA6B-E328-9109-3704-22D6DCB3A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75" y="2605809"/>
            <a:ext cx="93154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423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8BB76-A77A-57E1-1637-4611836B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Volte ao site do GitHub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1B25356-1C24-66A6-3D6C-32232E2C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O arquivo local, README.md, foi para o repositório remoto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88345A-9104-45B8-F810-374F732C8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381" y="2487049"/>
            <a:ext cx="8078327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91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F9341-8C86-FAB6-AC7D-64F6531C0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B3F675-6FAF-BD78-5522-C6FFCC441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A pasta local ficou assim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7CC7912-C629-A6F9-2835-E1ABCE205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92" y="2691606"/>
            <a:ext cx="78581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45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63D101B-DE5C-D320-641E-B2A8F506E1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Copiando os enunciados das práticas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0D0218A-540C-01B3-02D3-97B94B0AED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410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A6BD09-80B4-F1A5-5DF2-FEF502CF6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5704"/>
            <a:ext cx="10515600" cy="435133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Adicione um novo repositório remoto, no caso o repositório com os enunciados das práticas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sz="1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git remote add base https://github.com/btravencolo/FACOM31306-labs-2024-02.git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1800" dirty="0">
                <a:solidFill>
                  <a:prstClr val="black"/>
                </a:solidFill>
                <a:latin typeface="Consolas" panose="020B0609020204030204" pitchFamily="49" charset="0"/>
              </a:rPr>
              <a:t>Agora são dois repositórios remotos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</a:rPr>
              <a:t>, o ‘origin’ e o ‘base’. 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</a:rPr>
              <a:t>Conferindo</a:t>
            </a:r>
            <a:endParaRPr lang="en-US" sz="1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git remote -v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8A6BB5-D6C5-A8FD-D30C-0A54A3CA8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672" y="3148261"/>
            <a:ext cx="9315450" cy="31242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FC2EB8B-8472-9868-52CC-47C08365D7DD}"/>
              </a:ext>
            </a:extLst>
          </p:cNvPr>
          <p:cNvSpPr txBox="1"/>
          <p:nvPr/>
        </p:nvSpPr>
        <p:spPr>
          <a:xfrm>
            <a:off x="5927748" y="4990838"/>
            <a:ext cx="1442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FACOM31306</a:t>
            </a:r>
            <a:endParaRPr lang="pt-BR" sz="1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8B2ABD1-2532-CA87-E32B-15533DCACFA7}"/>
              </a:ext>
            </a:extLst>
          </p:cNvPr>
          <p:cNvSpPr txBox="1"/>
          <p:nvPr/>
        </p:nvSpPr>
        <p:spPr>
          <a:xfrm>
            <a:off x="5933844" y="5216390"/>
            <a:ext cx="1442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FACOM31306</a:t>
            </a:r>
            <a:endParaRPr lang="pt-BR" sz="1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F8760F-5D12-148B-4DEB-4E00E030E31C}"/>
              </a:ext>
            </a:extLst>
          </p:cNvPr>
          <p:cNvSpPr txBox="1"/>
          <p:nvPr/>
        </p:nvSpPr>
        <p:spPr>
          <a:xfrm>
            <a:off x="7370214" y="3543446"/>
            <a:ext cx="1442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FACOM31306</a:t>
            </a:r>
            <a:endParaRPr lang="pt-BR" sz="140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8A60051-71FF-5ED3-87F6-D67E0464975D}"/>
              </a:ext>
            </a:extLst>
          </p:cNvPr>
          <p:cNvCxnSpPr/>
          <p:nvPr/>
        </p:nvCxnSpPr>
        <p:spPr>
          <a:xfrm flipV="1">
            <a:off x="7470648" y="3888229"/>
            <a:ext cx="685800" cy="1013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2F308EF-5642-E397-F525-7BCF66574B91}"/>
              </a:ext>
            </a:extLst>
          </p:cNvPr>
          <p:cNvSpPr txBox="1"/>
          <p:nvPr/>
        </p:nvSpPr>
        <p:spPr>
          <a:xfrm>
            <a:off x="7435215" y="4370683"/>
            <a:ext cx="1442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2024-02</a:t>
            </a:r>
            <a:endParaRPr lang="pt-BR" sz="1400" dirty="0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8A0373F6-E662-E389-0CA0-0C33F89958CE}"/>
              </a:ext>
            </a:extLst>
          </p:cNvPr>
          <p:cNvCxnSpPr/>
          <p:nvPr/>
        </p:nvCxnSpPr>
        <p:spPr>
          <a:xfrm flipV="1">
            <a:off x="5927748" y="4710361"/>
            <a:ext cx="685800" cy="1013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2C30263B-22E6-A114-87F2-0E2677F34A7A}"/>
              </a:ext>
            </a:extLst>
          </p:cNvPr>
          <p:cNvCxnSpPr/>
          <p:nvPr/>
        </p:nvCxnSpPr>
        <p:spPr>
          <a:xfrm flipV="1">
            <a:off x="6061860" y="4862761"/>
            <a:ext cx="685800" cy="1013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922C6BD-5F43-5C68-C1E0-FEEC7F7CBFA6}"/>
              </a:ext>
            </a:extLst>
          </p:cNvPr>
          <p:cNvSpPr txBox="1"/>
          <p:nvPr/>
        </p:nvSpPr>
        <p:spPr>
          <a:xfrm>
            <a:off x="6169683" y="4540123"/>
            <a:ext cx="1442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FACOM31306</a:t>
            </a:r>
            <a:endParaRPr lang="pt-BR" sz="1400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A90461F-897F-276E-1902-6C0B5FB0C110}"/>
              </a:ext>
            </a:extLst>
          </p:cNvPr>
          <p:cNvCxnSpPr/>
          <p:nvPr/>
        </p:nvCxnSpPr>
        <p:spPr>
          <a:xfrm flipV="1">
            <a:off x="7195716" y="4667934"/>
            <a:ext cx="685800" cy="1013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F8BB1A05-4620-D0F1-8CF4-787BB82C6651}"/>
              </a:ext>
            </a:extLst>
          </p:cNvPr>
          <p:cNvCxnSpPr/>
          <p:nvPr/>
        </p:nvCxnSpPr>
        <p:spPr>
          <a:xfrm flipV="1">
            <a:off x="8812680" y="3819565"/>
            <a:ext cx="685800" cy="1013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8622C4D-71A5-0B5A-F64F-435E2C7CD845}"/>
              </a:ext>
            </a:extLst>
          </p:cNvPr>
          <p:cNvCxnSpPr/>
          <p:nvPr/>
        </p:nvCxnSpPr>
        <p:spPr>
          <a:xfrm flipV="1">
            <a:off x="6052716" y="4862761"/>
            <a:ext cx="685800" cy="1013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B9C0955-5991-1A38-438E-2D1F3CB9C807}"/>
              </a:ext>
            </a:extLst>
          </p:cNvPr>
          <p:cNvSpPr txBox="1"/>
          <p:nvPr/>
        </p:nvSpPr>
        <p:spPr>
          <a:xfrm>
            <a:off x="8777247" y="4030932"/>
            <a:ext cx="1442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  <a:latin typeface="Consolas" panose="020B0609020204030204" pitchFamily="49" charset="0"/>
              </a:rPr>
              <a:t>2024-02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725072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A6BD09-80B4-F1A5-5DF2-FEF502CF6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5704"/>
            <a:ext cx="10515600" cy="435133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Baixando os enunciados.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Pela primeira vez: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git pull base main --allow-unrelated-histories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acontecer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um merge &gt;&gt;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próximo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 sz="1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1800" dirty="0">
                <a:solidFill>
                  <a:prstClr val="black"/>
                </a:solidFill>
                <a:latin typeface="Consolas" panose="020B0609020204030204" pitchFamily="49" charset="0"/>
              </a:rPr>
              <a:t>Nas demais vezes</a:t>
            </a:r>
            <a:endParaRPr lang="en-US" sz="18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800" dirty="0">
                <a:highlight>
                  <a:srgbClr val="FFFF00"/>
                </a:highlight>
                <a:latin typeface="Consolas" panose="020B0609020204030204" pitchFamily="49" charset="0"/>
              </a:rPr>
              <a:t>git pull base main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1DC368-1454-71DE-3D56-F4EA005E3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659" y="2533793"/>
            <a:ext cx="7863032" cy="381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71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7FA47F-F7F5-3A55-4D97-70FEE2B6E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8462"/>
            <a:ext cx="10515600" cy="4351338"/>
          </a:xfrm>
        </p:spPr>
        <p:txBody>
          <a:bodyPr/>
          <a:lstStyle/>
          <a:p>
            <a:r>
              <a:rPr lang="pt-BR"/>
              <a:t>Pode ocorrer de os dois repositórios terem um arquivo de mesmo nome na mesma pasta. Assim o </a:t>
            </a:r>
            <a:r>
              <a:rPr lang="pt-BR" err="1"/>
              <a:t>git</a:t>
            </a:r>
            <a:r>
              <a:rPr lang="pt-BR"/>
              <a:t> faz o </a:t>
            </a:r>
            <a:r>
              <a:rPr lang="pt-BR">
                <a:highlight>
                  <a:srgbClr val="FFFF00"/>
                </a:highlight>
              </a:rPr>
              <a:t>merge</a:t>
            </a:r>
            <a:r>
              <a:rPr lang="pt-BR"/>
              <a:t> (junção) desses arquivos. Ele pede para você descrever uma mensagem para o merge</a:t>
            </a:r>
          </a:p>
          <a:p>
            <a:r>
              <a:rPr lang="pt-BR"/>
              <a:t>Para escrever essa mensagem, ele abre um editor de texto chamado </a:t>
            </a:r>
            <a:r>
              <a:rPr lang="pt-BR">
                <a:highlight>
                  <a:srgbClr val="FFFF00"/>
                </a:highlight>
              </a:rPr>
              <a:t>VIM</a:t>
            </a:r>
          </a:p>
          <a:p>
            <a:r>
              <a:rPr lang="pt-BR"/>
              <a:t>Podemos ignorar essa mensagem e sair do VIM. Para sair digite:</a:t>
            </a:r>
          </a:p>
          <a:p>
            <a:r>
              <a:rPr lang="pt-BR">
                <a:highlight>
                  <a:srgbClr val="FFFF00"/>
                </a:highlight>
              </a:rPr>
              <a:t>ESC</a:t>
            </a:r>
            <a:r>
              <a:rPr lang="pt-BR"/>
              <a:t> seguido de </a:t>
            </a:r>
            <a:r>
              <a:rPr lang="pt-BR">
                <a:highlight>
                  <a:srgbClr val="FFFF00"/>
                </a:highlight>
              </a:rPr>
              <a:t>:</a:t>
            </a:r>
            <a:r>
              <a:rPr lang="pt-BR"/>
              <a:t> seguido de </a:t>
            </a:r>
            <a:r>
              <a:rPr lang="pt-BR">
                <a:highlight>
                  <a:srgbClr val="FFFF00"/>
                </a:highlight>
              </a:rPr>
              <a:t>q</a:t>
            </a:r>
            <a:r>
              <a:rPr lang="pt-BR"/>
              <a:t> seguido de </a:t>
            </a:r>
            <a:r>
              <a:rPr lang="pt-BR">
                <a:highlight>
                  <a:srgbClr val="FFFF00"/>
                </a:highlight>
              </a:rPr>
              <a:t>! </a:t>
            </a:r>
            <a:r>
              <a:rPr lang="pt-BR"/>
              <a:t>seguido de </a:t>
            </a:r>
            <a:r>
              <a:rPr lang="pt-BR">
                <a:highlight>
                  <a:srgbClr val="FFFF00"/>
                </a:highlight>
              </a:rPr>
              <a:t>ENTER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CB27AB-37E8-1180-17D6-1CBBC05B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3715512"/>
            <a:ext cx="93154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196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2A441-36EE-A0C0-7752-F3D9809F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Após baixar os enunciados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F3EBD2-3500-9A02-8E3B-47AC8E12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Resolva os exercícios na pasta em que veio o enunciado. Por exemplo, o exercício 01 do lab02 deve ser resolvido (criado um projeto) nessa pasta: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981B60-C97F-0D8E-ED8D-1ABB82200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92" y="2930525"/>
            <a:ext cx="78581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45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2F12D-8AE9-3B5F-5D51-4FB06C629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Enviando o exercício resolvido para o </a:t>
            </a:r>
            <a:r>
              <a:rPr lang="pt-BR" err="1"/>
              <a:t>github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D306C-A8BD-49CD-FFE1-32106F508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81" y="13657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>
                <a:highlight>
                  <a:srgbClr val="FFFF00"/>
                </a:highlight>
                <a:latin typeface="Consolas" panose="020B0609020204030204" pitchFamily="49" charset="0"/>
              </a:rPr>
              <a:t>git add .</a:t>
            </a:r>
          </a:p>
          <a:p>
            <a:pPr marL="0" indent="0">
              <a:buNone/>
            </a:pPr>
            <a:r>
              <a:rPr lang="en-US" sz="1800">
                <a:highlight>
                  <a:srgbClr val="FFFF00"/>
                </a:highlight>
                <a:latin typeface="Consolas" panose="020B0609020204030204" pitchFamily="49" charset="0"/>
              </a:rPr>
              <a:t>git commit –m “msg de commit”</a:t>
            </a:r>
          </a:p>
          <a:p>
            <a:pPr marL="0" indent="0">
              <a:buNone/>
            </a:pPr>
            <a:r>
              <a:rPr lang="en-US" sz="1800">
                <a:highlight>
                  <a:srgbClr val="FFFF00"/>
                </a:highlight>
                <a:latin typeface="Consolas" panose="020B0609020204030204" pitchFamily="49" charset="0"/>
              </a:rPr>
              <a:t>git push</a:t>
            </a:r>
            <a:endParaRPr lang="pt-BR" sz="18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B9A586-643C-5124-E2F0-6A38AA1F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858" y="2051880"/>
            <a:ext cx="8385476" cy="515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527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3" ma:contentTypeDescription="Crie um novo documento." ma:contentTypeScope="" ma:versionID="a156716847e7342aca01295d584a094b">
  <xsd:schema xmlns:xsd="http://www.w3.org/2001/XMLSchema" xmlns:xs="http://www.w3.org/2001/XMLSchema" xmlns:p="http://schemas.microsoft.com/office/2006/metadata/properties" xmlns:ns2="4fdbd140-fb76-48f8-85b7-41ace7287746" targetNamespace="http://schemas.microsoft.com/office/2006/metadata/properties" ma:root="true" ma:fieldsID="57b2eef0319d860a6d1394171163fad3" ns2:_="">
    <xsd:import namespace="4fdbd140-fb76-48f8-85b7-41ace72877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bd140-fb76-48f8-85b7-41ace72877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1C82AF-A570-4B03-A41D-2FD8F8C415E0}">
  <ds:schemaRefs>
    <ds:schemaRef ds:uri="http://purl.org/dc/elements/1.1/"/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C600153-8218-4571-9251-BB20A47E82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dbd140-fb76-48f8-85b7-41ace72877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C03136-417E-4B30-A6C9-9F4D661AC7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1061</Words>
  <Application>Microsoft Office PowerPoint</Application>
  <PresentationFormat>Widescreen</PresentationFormat>
  <Paragraphs>144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HoloLens MDL2 Assets</vt:lpstr>
      <vt:lpstr>Lucida Console</vt:lpstr>
      <vt:lpstr>Roboto Slab</vt:lpstr>
      <vt:lpstr>Tema do Office</vt:lpstr>
      <vt:lpstr>Antes de ler</vt:lpstr>
      <vt:lpstr>Instalando o GIT em seu computador</vt:lpstr>
      <vt:lpstr>Apresentação do PowerPoint</vt:lpstr>
      <vt:lpstr>Apresentação do PowerPoint</vt:lpstr>
      <vt:lpstr>Github</vt:lpstr>
      <vt:lpstr>Apresentação do PowerPoint</vt:lpstr>
      <vt:lpstr>Criar repositório no GIT</vt:lpstr>
      <vt:lpstr>Apresentação do PowerPoint</vt:lpstr>
      <vt:lpstr>Apresentação do PowerPoint</vt:lpstr>
      <vt:lpstr>CRIANDO O REPOSITÓRIO LOCAL</vt:lpstr>
      <vt:lpstr>1) Em qual pasta você vai colocar o seu repositório?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git bash</vt:lpstr>
      <vt:lpstr>Apresentação do PowerPoint</vt:lpstr>
      <vt:lpstr>Criando um repositório LOCAL</vt:lpstr>
      <vt:lpstr>Criando um repositório LOCAL</vt:lpstr>
      <vt:lpstr>Criando um repositório LOCAL</vt:lpstr>
      <vt:lpstr>Criando um repositório LOCAL</vt:lpstr>
      <vt:lpstr>Criando um repositório LOCAL</vt:lpstr>
      <vt:lpstr>Ligando o repositório local com o remoto</vt:lpstr>
      <vt:lpstr>Criando um repositório LOCAL</vt:lpstr>
      <vt:lpstr>Criando um repositório LOCAL</vt:lpstr>
      <vt:lpstr>Volte ao site do GitHub</vt:lpstr>
      <vt:lpstr>Apresentação do PowerPoint</vt:lpstr>
      <vt:lpstr>Copiando os enunciados das práticas</vt:lpstr>
      <vt:lpstr>Apresentação do PowerPoint</vt:lpstr>
      <vt:lpstr>Apresentação do PowerPoint</vt:lpstr>
      <vt:lpstr>Apresentação do PowerPoint</vt:lpstr>
      <vt:lpstr>Após baixar os enunciados</vt:lpstr>
      <vt:lpstr>Enviando o exercício resolvido para o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Augusto Nassif Travencolo</dc:creator>
  <cp:lastModifiedBy>Bruno Augusto Nassif Travencolo</cp:lastModifiedBy>
  <cp:revision>12</cp:revision>
  <dcterms:created xsi:type="dcterms:W3CDTF">2023-08-24T22:25:06Z</dcterms:created>
  <dcterms:modified xsi:type="dcterms:W3CDTF">2026-09-18T21:18:55Z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</Properties>
</file>